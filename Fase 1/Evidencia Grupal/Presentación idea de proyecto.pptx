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OTIBhqP5ifQyxlWGIsP6zZwwT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6D9E4D-78C8-4B43-9684-F0DA4AD62BB6}">
  <a:tblStyle styleId="{076D9E4D-78C8-4B43-9684-F0DA4AD62BB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63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65A82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7E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FD7E6"/>
                </a:solidFill>
                <a:latin typeface="Calibri"/>
                <a:ea typeface="Calibri"/>
                <a:cs typeface="Calibri"/>
                <a:sym typeface="Calibri"/>
              </a:rPr>
              <a:t>DUOC UC  ·  INGENIERÍA EN INFORMÁTICA  ·  CAPSTONE_005D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777240" y="219456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AgeCare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 txBox="1"/>
          <p:nvPr/>
        </p:nvSpPr>
        <p:spPr>
          <a:xfrm>
            <a:off x="822960" y="31546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600"/>
              <a:buFont typeface="Cambria"/>
              <a:buNone/>
            </a:pPr>
            <a:r>
              <a:rPr i="1" lang="en-US" sz="2600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Administración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7E6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BFD7E6"/>
                </a:solidFill>
                <a:latin typeface="Calibri"/>
                <a:ea typeface="Calibri"/>
                <a:cs typeface="Calibri"/>
                <a:sym typeface="Calibri"/>
              </a:rPr>
              <a:t>Definición del Proyecto — Fase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22960" y="4709160"/>
            <a:ext cx="384048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 txBox="1"/>
          <p:nvPr/>
        </p:nvSpPr>
        <p:spPr>
          <a:xfrm>
            <a:off x="822960" y="489204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Joaquín Becerra   ·   Frank Martínez   ·   Sebastián Pombet</a:t>
            </a:r>
            <a:b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Clr>
                <a:srgbClr val="9FB9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FB9CC"/>
                </a:solidFill>
                <a:latin typeface="Calibri"/>
                <a:ea typeface="Calibri"/>
                <a:cs typeface="Calibri"/>
                <a:sym typeface="Calibri"/>
              </a:rPr>
              <a:t>Docente guía: José Luis Pino</a:t>
            </a:r>
            <a:br>
              <a:rPr lang="en-US" sz="1250">
                <a:solidFill>
                  <a:srgbClr val="9FB9C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6000"/>
              </a:lnSpc>
              <a:spcBef>
                <a:spcPts val="0"/>
              </a:spcBef>
              <a:spcAft>
                <a:spcPts val="0"/>
              </a:spcAft>
              <a:buClr>
                <a:srgbClr val="9FB9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9FB9CC"/>
                </a:solidFill>
                <a:latin typeface="Calibri"/>
                <a:ea typeface="Calibri"/>
                <a:cs typeface="Calibri"/>
                <a:sym typeface="Calibri"/>
              </a:rPr>
              <a:t>Empresa mandante: Wellq Co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CONTENIDOS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Tabla de contenidos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1417320" y="17830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Introducción, alcance y factibilidad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1417320" y="217627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Qué es AgeCare, qué construimos y por qué es realizable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48640" y="3063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1417320" y="30175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Objetivos, metodología y equipo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417320" y="341071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Qué vamos a lograr y cómo vamos a trabajar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548640" y="4297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417320" y="42519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Competencias, cronograma y conclusión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417320" y="4645152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Relación con la carrera, plan de trabajo y cierre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63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-2377440" y="-2377440"/>
            <a:ext cx="5669280" cy="5669280"/>
          </a:xfrm>
          <a:prstGeom prst="ellipse">
            <a:avLst/>
          </a:prstGeom>
          <a:solidFill>
            <a:srgbClr val="065A82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875520" y="4023360"/>
            <a:ext cx="5120640" cy="512064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822960" y="2606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7C9C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3E7C9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Introducción, alcance y factibilidad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¿Qué es AgeCare?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548640" y="1600200"/>
            <a:ext cx="110916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AgeCare es una aplicación freemium de Wellq Co enfocada en el cuidado de personas de tercera edad, que centraliza en un solo lugar a cuatro perfiles de usuario: cuidador, familiar, adulto mayor y médico.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48640" y="274320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822960" y="29718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Entretención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822960" y="342900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Marketplace de cuidadoras y artículos de apoyo, contenido curado (chistes, noticias).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343400" y="274320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4617720" y="29718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Cuidados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4617720" y="342900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Recetas médicas digitalizadas y alertas ante eventos críticos (caídas, signos fuera de rango).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138160" y="2743200"/>
            <a:ext cx="3566160" cy="3017520"/>
          </a:xfrm>
          <a:prstGeom prst="roundRect">
            <a:avLst>
              <a:gd fmla="val 2424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412480" y="29718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8412480" y="342900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Canal entre familiares, cuidadores y pacientes, con apoyo de inteligencia artificial.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NUESTRO PROYECTO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La Administración y Factibilidad de AgeCare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48640" y="1645920"/>
            <a:ext cx="11091672" cy="1280160"/>
          </a:xfrm>
          <a:prstGeom prst="roundRect">
            <a:avLst>
              <a:gd fmla="val 4286" name="adj"/>
            </a:avLst>
          </a:prstGeom>
          <a:solidFill>
            <a:srgbClr val="0B3D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868680" y="182880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Nuestra misión va dirigida a la parte administrativa de AgeCare: implementar los servicios para gestionar tanto a los cuatro perfiles de usuario (cuidador, familiar, adulto mayor y médico) como las funciones ya existentes de la plataforma.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868665" y="3351275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Nos centramos en el backend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868665" y="3762755"/>
            <a:ext cx="5394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–"/>
            </a:pPr>
            <a:r>
              <a:rPr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Base de datos y modelo de datos del panel administrativo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–"/>
            </a:pPr>
            <a:r>
              <a:rPr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API REST para los doce módulos de la consola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2857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Calibri"/>
              <a:buChar char="–"/>
            </a:pPr>
            <a:r>
              <a:rPr lang="en-US" sz="14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Autenticación y autorización por rol (cinco roles internos)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Permisos por rol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Cada módulo define qué puede hacer cada rol interno: sin acceso (—), solo lectura (L) o edición (E).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0" name="Google Shape;90;p6"/>
          <p:cNvGraphicFramePr/>
          <p:nvPr/>
        </p:nvGraphicFramePr>
        <p:xfrm>
          <a:off x="54864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{076D9E4D-78C8-4B43-9684-F0DA4AD62BB6}</a:tableStyleId>
              </a:tblPr>
              <a:tblGrid>
                <a:gridCol w="3776475"/>
                <a:gridCol w="1463050"/>
                <a:gridCol w="1463050"/>
                <a:gridCol w="1463050"/>
                <a:gridCol w="1463050"/>
                <a:gridCol w="1463050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Analista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Soporte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Moderador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Métricas (secciones 4, 6 y 7)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operativo e incidentes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Tickets de soporte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Curación de contenido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Catálogos del marketplace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Configuración y legales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staff y auditoría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6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-2377440" y="-2377440"/>
            <a:ext cx="5669280" cy="5669280"/>
          </a:xfrm>
          <a:prstGeom prst="ellipse">
            <a:avLst/>
          </a:prstGeom>
          <a:solidFill>
            <a:srgbClr val="065A82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9875520" y="4023360"/>
            <a:ext cx="5120640" cy="512064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822960" y="2606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7C9C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3E7C9C"/>
                </a:solidFill>
                <a:latin typeface="Cambria"/>
                <a:ea typeface="Cambria"/>
                <a:cs typeface="Cambria"/>
                <a:sym typeface="Cambria"/>
              </a:rPr>
              <a:t>•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Factibilidad del proyecto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Por qué es realizable en el semestre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fmla="val 3721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21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1463040" y="199339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Especificación cerrada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822960" y="260604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Wellq Co entregó una especificación de endpoints detallada: rutas, roles, parámetros y errores por módulo.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291072" y="1737360"/>
            <a:ext cx="5349240" cy="1965960"/>
          </a:xfrm>
          <a:prstGeom prst="roundRect">
            <a:avLst>
              <a:gd fmla="val 3721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565392" y="2011680"/>
            <a:ext cx="457200" cy="457200"/>
          </a:xfrm>
          <a:prstGeom prst="ellipse">
            <a:avLst/>
          </a:prstGeom>
          <a:solidFill>
            <a:srgbClr val="21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6565392" y="2011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7205472" y="199339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Backend de referencia entregado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6565392" y="260604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Un backend funcional con los 50 endpoints implementados y 23 pruebas automatizadas que pasan correctamente.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fmla="val 3721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21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1463040" y="423367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Stack conocido por el equipo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822960" y="484632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FastAPI, PostgreSQL y las herramientas de autenticación son tecnologías que el equipo ya maneja de cursos previos.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291072" y="3977640"/>
            <a:ext cx="5349240" cy="1965960"/>
          </a:xfrm>
          <a:prstGeom prst="roundRect">
            <a:avLst>
              <a:gd fmla="val 3721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565392" y="4251960"/>
            <a:ext cx="457200" cy="457200"/>
          </a:xfrm>
          <a:prstGeom prst="ellipse">
            <a:avLst/>
          </a:prstGeom>
          <a:solidFill>
            <a:srgbClr val="21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6565392" y="4251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7205472" y="4233672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Equipo con roles definidos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6565392" y="484632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Tres integrantes con responsabilidades claras y reuniones semanales de seguimiento ya en marcha.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6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-2377440" y="-2377440"/>
            <a:ext cx="5669280" cy="5669280"/>
          </a:xfrm>
          <a:prstGeom prst="ellipse">
            <a:avLst/>
          </a:prstGeom>
          <a:solidFill>
            <a:srgbClr val="065A82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9875520" y="4023360"/>
            <a:ext cx="5120640" cy="512064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822960" y="2606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7C9C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3E7C9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Objetivos, metodología y equipo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Objetivo general y específicos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fmla="val 5714" name="adj"/>
            </a:avLst>
          </a:prstGeom>
          <a:solidFill>
            <a:srgbClr val="0B3D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822960" y="17190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9C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FB9C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el backend de administración de AgeCare, que permita gestionar los cuatro perfiles de usuario y las funciones existentes de la plataforma, sobre la especificación entregada por Wellq Co.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548640" y="2788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548640" y="3200400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Autenticación y gestión del staff, con roles diferenciados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3846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Endpoints de las cuatro secciones analíticas (comercial, operativo, usuarios, funcionalidad)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3846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Gestión de tickets de soporte y su ciclo de conversación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3846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Curación de contenido y catálogos del marketplace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6245352" y="3200400"/>
            <a:ext cx="53949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Moderación de reseñas y perfiles, y configuración del sistema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3846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Gestión de documentos legales y de privacidad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3846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Registro de auditoría de las acciones administrativas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3846"/>
              </a:lnSpc>
              <a:spcBef>
                <a:spcPts val="12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–"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Base de datos, manejo de errores y documentación técnica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Enfoque tradicional en cascada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548640" y="1554480"/>
            <a:ext cx="110916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Elegimos cascada porque tenemos requisitos y estructura claros, buena trazabilidad y documentación, y es apropiada para un equipo pequeño.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1118311" y="2880360"/>
            <a:ext cx="822960" cy="822960"/>
          </a:xfrm>
          <a:prstGeom prst="ellipse">
            <a:avLst/>
          </a:prstGeom>
          <a:solidFill>
            <a:srgbClr val="21A6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1118311" y="2880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548640" y="3840480"/>
            <a:ext cx="19623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548640" y="4206240"/>
            <a:ext cx="196230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Requerimientos y documentación entregada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11"/>
          <p:cNvCxnSpPr/>
          <p:nvPr/>
        </p:nvCxnSpPr>
        <p:spPr>
          <a:xfrm>
            <a:off x="2510942" y="33832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8" name="Google Shape;168;p11"/>
          <p:cNvSpPr/>
          <p:nvPr/>
        </p:nvSpPr>
        <p:spPr>
          <a:xfrm>
            <a:off x="3400654" y="28803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3400654" y="2880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2830982" y="3840480"/>
            <a:ext cx="19623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2830982" y="4206240"/>
            <a:ext cx="196230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Arquitectura, modelo de datos, stack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1"/>
          <p:cNvCxnSpPr/>
          <p:nvPr/>
        </p:nvCxnSpPr>
        <p:spPr>
          <a:xfrm>
            <a:off x="4793285" y="33832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p11"/>
          <p:cNvSpPr/>
          <p:nvPr/>
        </p:nvSpPr>
        <p:spPr>
          <a:xfrm>
            <a:off x="5682996" y="28803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5682996" y="2880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113325" y="3840480"/>
            <a:ext cx="19623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5113325" y="4206240"/>
            <a:ext cx="196230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Autenticación, módulos de negocio, pruebas unitarias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11"/>
          <p:cNvCxnSpPr/>
          <p:nvPr/>
        </p:nvCxnSpPr>
        <p:spPr>
          <a:xfrm>
            <a:off x="7075627" y="33832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" name="Google Shape;178;p11"/>
          <p:cNvSpPr/>
          <p:nvPr/>
        </p:nvSpPr>
        <p:spPr>
          <a:xfrm>
            <a:off x="7965338" y="28803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965338" y="2880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395667" y="3840480"/>
            <a:ext cx="19623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395667" y="4206240"/>
            <a:ext cx="196230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Integración y carga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1"/>
          <p:cNvCxnSpPr/>
          <p:nvPr/>
        </p:nvCxnSpPr>
        <p:spPr>
          <a:xfrm>
            <a:off x="9357970" y="33832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11"/>
          <p:cNvSpPr/>
          <p:nvPr/>
        </p:nvSpPr>
        <p:spPr>
          <a:xfrm>
            <a:off x="10247681" y="28803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10247681" y="288036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9678010" y="3840480"/>
            <a:ext cx="196230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9678010" y="4206240"/>
            <a:ext cx="196230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Configuración en Azure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Cómo lo vamos a ejecutar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1115568" y="177393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Análisis del problema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1115568" y="21031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Entendimiento de requisitos y funcionalidades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1115568" y="277977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Análisis de documentación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115568" y="310896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Revisión de la documentación entregada por la empresa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548640" y="384048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115568" y="378561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Configuración inicial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115568" y="41148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Estructura base y stack tecnológico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484632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548640" y="4846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115568" y="479145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Configuración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1115568" y="51206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Manejo de errores e inicio del repositorio (Git)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245352" y="182880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6245352" y="18288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6812280" y="177393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6812280" y="21031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Módulo de autenticación, módulo de negocio, pruebas unitarias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245352" y="283464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6245352" y="2834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6812280" y="277977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6812280" y="310896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Pruebas de integración y de carga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245352" y="384048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6245352" y="3840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6812280" y="378561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6812280" y="411480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Arquitectura y decisiones técnicas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245352" y="484632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6245352" y="4846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6812280" y="479145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6812280" y="51206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Configuración del entorno en Azure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Además: reunión semanal de seguimiento y sincronización de avances durante todo el proyecto.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6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-2377440" y="-2377440"/>
            <a:ext cx="5669280" cy="5669280"/>
          </a:xfrm>
          <a:prstGeom prst="ellipse">
            <a:avLst/>
          </a:prstGeom>
          <a:solidFill>
            <a:srgbClr val="065A82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9875520" y="4023360"/>
            <a:ext cx="5120640" cy="512064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822960" y="260604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7C9C"/>
              </a:buClr>
              <a:buSzPts val="6000"/>
              <a:buFont typeface="Cambria"/>
              <a:buNone/>
            </a:pPr>
            <a:r>
              <a:rPr b="1" lang="en-US" sz="6000">
                <a:solidFill>
                  <a:srgbClr val="3E7C9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 txBox="1"/>
          <p:nvPr/>
        </p:nvSpPr>
        <p:spPr>
          <a:xfrm>
            <a:off x="822960" y="361188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Competencias, cronograma y conclusión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PERFIL DE EGRESO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Relación con las competencias de la carrera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557971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1234440" y="167335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Gestión de proyectos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4251960" y="1673352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Planificación por etapas, distribución de responsabilidades y seguimiento del avance durante las 18 semanas.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548640" y="2615184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548640" y="26151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 txBox="1"/>
          <p:nvPr/>
        </p:nvSpPr>
        <p:spPr>
          <a:xfrm>
            <a:off x="1234440" y="2551176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Modelos de datos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 txBox="1"/>
          <p:nvPr/>
        </p:nvSpPr>
        <p:spPr>
          <a:xfrm>
            <a:off x="4251960" y="2551176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Diseño del esquema relacional que soporta staff, métricas agregadas, tickets, catálogos, moderación y auditoría.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548640" y="3493008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548640" y="34930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1234440" y="34290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Desarrollo de software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 txBox="1"/>
          <p:nvPr/>
        </p:nvSpPr>
        <p:spPr>
          <a:xfrm>
            <a:off x="4251960" y="3429000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Construcción del backend en FastAPI, siguiendo la especificación entregada por Wellq Co.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548640" y="4370832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548640" y="43708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1234440" y="4306824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Pruebas de certificación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4251960" y="4306824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Plan de pruebas unitarias, de integración y de carga, documentado en el manual técnico.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GESTIÓN DE RIESGOS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Facilitadores y obstaculizadores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Lo que facilita el proyecto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868680" y="2423160"/>
            <a:ext cx="47550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Especificación y documentación ya entregadas por la empresa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148"/>
              </a:lnSpc>
              <a:spcBef>
                <a:spcPts val="13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Backend de referencia con pruebas que ya pasan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148"/>
              </a:lnSpc>
              <a:spcBef>
                <a:spcPts val="13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Stack tecnológico que el equipo conoce de cursos previos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148"/>
              </a:lnSpc>
              <a:spcBef>
                <a:spcPts val="13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Reuniones semanales ya funcionando como hábito del equipo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245352" y="169164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245352" y="1691640"/>
            <a:ext cx="5394960" cy="4206240"/>
          </a:xfrm>
          <a:prstGeom prst="roundRect">
            <a:avLst>
              <a:gd fmla="val 1304" name="adj"/>
            </a:avLst>
          </a:prstGeom>
          <a:solidFill>
            <a:srgbClr val="FFFFFF"/>
          </a:solidFill>
          <a:ln cap="flat" cmpd="sng" w="12700">
            <a:solidFill>
              <a:srgbClr val="E7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6565392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B3D63"/>
                </a:solidFill>
                <a:latin typeface="Calibri"/>
                <a:ea typeface="Calibri"/>
                <a:cs typeface="Calibri"/>
                <a:sym typeface="Calibri"/>
              </a:rPr>
              <a:t>Lo que puede dificultarlo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6565392" y="2423160"/>
            <a:ext cx="47548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Entender a fondo un backend que la empresa ya construyó, no el equipo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148"/>
              </a:lnSpc>
              <a:spcBef>
                <a:spcPts val="13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Poca experiencia previa con Azure y con segundo factor (TOTP)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8148"/>
              </a:lnSpc>
              <a:spcBef>
                <a:spcPts val="130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–"/>
            </a:pPr>
            <a:r>
              <a:rPr lang="en-US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Coordinar a tres personas trabajando sobre el mismo backend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Fases del proyecto — 18 semanas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548640" y="1828800"/>
            <a:ext cx="11091672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548640" y="1828800"/>
            <a:ext cx="11091672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822960" y="199339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Fase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822960" y="245059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Semanas 1 a 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822960" y="276148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A6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1A69A"/>
                </a:solidFill>
                <a:latin typeface="Calibri"/>
                <a:ea typeface="Calibri"/>
                <a:cs typeface="Calibri"/>
                <a:sym typeface="Calibri"/>
              </a:rPr>
              <a:t>20%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834640" y="2084832"/>
            <a:ext cx="8778240" cy="292608"/>
          </a:xfrm>
          <a:prstGeom prst="roundRect">
            <a:avLst>
              <a:gd fmla="val 50000" name="adj"/>
            </a:avLst>
          </a:prstGeom>
          <a:solidFill>
            <a:srgbClr val="E4E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2834640" y="2084832"/>
            <a:ext cx="1950720" cy="292608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2834640" y="2542032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Definición del proyecto: análisis, documentación y este plan de trabajo.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548640" y="3337560"/>
            <a:ext cx="11091672" cy="1371600"/>
          </a:xfrm>
          <a:prstGeom prst="roundRect">
            <a:avLst>
              <a:gd fmla="val 5333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822960" y="350215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Fase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822960" y="395935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Semanas 5 a 15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822960" y="42702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A6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1A69A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2834640" y="3593592"/>
            <a:ext cx="8778240" cy="292608"/>
          </a:xfrm>
          <a:prstGeom prst="roundRect">
            <a:avLst>
              <a:gd fmla="val 50000" name="adj"/>
            </a:avLst>
          </a:prstGeom>
          <a:solidFill>
            <a:srgbClr val="E4E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2834640" y="3593592"/>
            <a:ext cx="5364480" cy="292608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2834640" y="4050792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Diseño, implementación del backend, pruebas de integración y de carga.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822960" y="5010912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Fase 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822960" y="546811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Semanas 16 a 18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822960" y="577900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A6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21A69A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2834640" y="5102352"/>
            <a:ext cx="8778240" cy="292608"/>
          </a:xfrm>
          <a:prstGeom prst="roundRect">
            <a:avLst>
              <a:gd fmla="val 50000" name="adj"/>
            </a:avLst>
          </a:prstGeom>
          <a:solidFill>
            <a:srgbClr val="E4E9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2834640" y="5102352"/>
            <a:ext cx="1463040" cy="292608"/>
          </a:xfrm>
          <a:prstGeom prst="roundRect">
            <a:avLst>
              <a:gd fmla="val 50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2834640" y="5559552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Despliegue final, ajustes y presentación del proyecto ante la comisión.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EVIDENCIA DE AVANCE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Fase 1 — trabajo ya realizado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548640" y="15544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Registro real de tareas del equipo, con fechas y estado a la fecha (12-08-2026 al 02-09-2026).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17"/>
          <p:cNvGraphicFramePr/>
          <p:nvPr/>
        </p:nvGraphicFramePr>
        <p:xfrm>
          <a:off x="54864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{076D9E4D-78C8-4B43-9684-F0DA4AD62BB6}</a:tableStyleId>
              </a:tblPr>
              <a:tblGrid>
                <a:gridCol w="5056625"/>
                <a:gridCol w="2011675"/>
                <a:gridCol w="2011675"/>
                <a:gridCol w="2011675"/>
              </a:tblGrid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Tarea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inicio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fin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3D63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del problema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Meeting de bienvenida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documentación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Designación de roles del equipo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Selección de herramientas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Reunión: planificación previa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31-08-2026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Reunión 2: planificación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01-09-2026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01-09-2026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A6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1A6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Presentación Fase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02-09-2026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F29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02-09-2026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97A1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97A1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Abierto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01600" marL="101600" anchor="ctr">
                    <a:lnL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7DEE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322" name="Google Shape;322;p1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3D63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0B3D63"/>
                </a:solidFill>
                <a:latin typeface="Cambria"/>
                <a:ea typeface="Cambria"/>
                <a:cs typeface="Cambria"/>
                <a:sym typeface="Cambria"/>
              </a:rPr>
              <a:t>En síntesis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548640" y="1691640"/>
            <a:ext cx="11091672" cy="1463040"/>
          </a:xfrm>
          <a:prstGeom prst="roundRect">
            <a:avLst>
              <a:gd fmla="val 5000" name="adj"/>
            </a:avLst>
          </a:prstGeom>
          <a:solidFill>
            <a:srgbClr val="0B3D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 txBox="1"/>
          <p:nvPr/>
        </p:nvSpPr>
        <p:spPr>
          <a:xfrm>
            <a:off x="868680" y="187452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Partimos con ventaja: la empresa ya entregó una especificación cerrada y un backend de referencia que funciona y pasa sus pruebas. Nuestro aporte real está en auditarlo, entenderlo a fondo, extenderlo y documentarlo con el rigor que exige la asignatura.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 txBox="1"/>
          <p:nvPr/>
        </p:nvSpPr>
        <p:spPr>
          <a:xfrm>
            <a:off x="548640" y="3429000"/>
            <a:ext cx="11091672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El alcance está definido y acotado a doce módulos administrativos, con roles y permisos claros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6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La metodología en cascada se ajusta a que ya contamos con requisitos cerrados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6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El cronograma y el trabajo ya realizado en la Fase 1 muestran avance concreto, no solo un plan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3333"/>
              </a:lnSpc>
              <a:spcBef>
                <a:spcPts val="1600"/>
              </a:spcBef>
              <a:spcAft>
                <a:spcPts val="0"/>
              </a:spcAft>
              <a:buClr>
                <a:srgbClr val="1F2933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El resultado esperado: un backend robusto, probado y documentado, listo para operar la administración de AgeCare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76"/>
                </a:solidFill>
                <a:latin typeface="Calibri"/>
                <a:ea typeface="Calibri"/>
                <a:cs typeface="Calibri"/>
                <a:sym typeface="Calibri"/>
              </a:rPr>
              <a:t>AgeCare — Administración · Capstone_005D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3D63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-2194560" y="-2194560"/>
            <a:ext cx="5486400" cy="5486400"/>
          </a:xfrm>
          <a:prstGeom prst="ellipse">
            <a:avLst/>
          </a:prstGeom>
          <a:solidFill>
            <a:srgbClr val="065A82">
              <a:alpha val="6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lang="en-US" sz="4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Preguntas y comentarios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9"/>
          <p:cNvCxnSpPr/>
          <p:nvPr/>
        </p:nvCxnSpPr>
        <p:spPr>
          <a:xfrm>
            <a:off x="822960" y="3977640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9"/>
          <p:cNvSpPr txBox="1"/>
          <p:nvPr/>
        </p:nvSpPr>
        <p:spPr>
          <a:xfrm>
            <a:off x="822960" y="41605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9CC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FB9CC"/>
                </a:solidFill>
                <a:latin typeface="Calibri"/>
                <a:ea typeface="Calibri"/>
                <a:cs typeface="Calibri"/>
                <a:sym typeface="Calibri"/>
              </a:rPr>
              <a:t>Joaquín Becerra   ·   Frank Martínez   ·   Sebastián Pombet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2026-09-02T04:24:12Z</dcterms:created>
  <dc:creator>PptxGenJS</dc:creator>
</cp:coreProperties>
</file>